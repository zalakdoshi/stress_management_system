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20"/>
  </p:notesMasterIdLst>
  <p:sldIdLst>
    <p:sldId id="1298" r:id="rId2"/>
    <p:sldId id="1302" r:id="rId3"/>
    <p:sldId id="1303" r:id="rId4"/>
    <p:sldId id="1304" r:id="rId5"/>
    <p:sldId id="1307" r:id="rId6"/>
    <p:sldId id="1311" r:id="rId7"/>
    <p:sldId id="1312" r:id="rId8"/>
    <p:sldId id="1318" r:id="rId9"/>
    <p:sldId id="1319" r:id="rId10"/>
    <p:sldId id="1320" r:id="rId11"/>
    <p:sldId id="1306" r:id="rId12"/>
    <p:sldId id="1317" r:id="rId13"/>
    <p:sldId id="1308" r:id="rId14"/>
    <p:sldId id="1310" r:id="rId15"/>
    <p:sldId id="1314" r:id="rId16"/>
    <p:sldId id="1315" r:id="rId17"/>
    <p:sldId id="1313" r:id="rId18"/>
    <p:sldId id="271" r:id="rId19"/>
  </p:sldIdLst>
  <p:sldSz cx="12192000" cy="6858000"/>
  <p:notesSz cx="12192000" cy="6858000"/>
  <p:custDataLst>
    <p:tags r:id="rId2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E0BAB-E0CB-D079-357C-856FBE07D8AB}" v="21" dt="2025-12-08T07:59:44.3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Kaisar" userId="S::kaisar@edunetfoundation.org::9c081128-0687-4cc5-906f-c826450d4c39" providerId="AD" clId="Web-{849E0BAB-E0CB-D079-357C-856FBE07D8AB}"/>
    <pc:docChg chg="modSld">
      <pc:chgData name="Mohd Kaisar" userId="S::kaisar@edunetfoundation.org::9c081128-0687-4cc5-906f-c826450d4c39" providerId="AD" clId="Web-{849E0BAB-E0CB-D079-357C-856FBE07D8AB}" dt="2025-12-08T07:59:42.623" v="15" actId="20577"/>
      <pc:docMkLst>
        <pc:docMk/>
      </pc:docMkLst>
      <pc:sldChg chg="modSp">
        <pc:chgData name="Mohd Kaisar" userId="S::kaisar@edunetfoundation.org::9c081128-0687-4cc5-906f-c826450d4c39" providerId="AD" clId="Web-{849E0BAB-E0CB-D079-357C-856FBE07D8AB}" dt="2025-12-08T07:59:42.623" v="15" actId="20577"/>
        <pc:sldMkLst>
          <pc:docMk/>
          <pc:sldMk cId="946846088" sldId="1298"/>
        </pc:sldMkLst>
        <pc:spChg chg="mod">
          <ac:chgData name="Mohd Kaisar" userId="S::kaisar@edunetfoundation.org::9c081128-0687-4cc5-906f-c826450d4c39" providerId="AD" clId="Web-{849E0BAB-E0CB-D079-357C-856FBE07D8AB}" dt="2025-12-08T07:59:20.184" v="9" actId="20577"/>
          <ac:spMkLst>
            <pc:docMk/>
            <pc:sldMk cId="946846088" sldId="1298"/>
            <ac:spMk id="3" creationId="{6A8BFA17-ACF5-21DA-81BC-A9A793A30FE6}"/>
          </ac:spMkLst>
        </pc:spChg>
        <pc:spChg chg="mod">
          <ac:chgData name="Mohd Kaisar" userId="S::kaisar@edunetfoundation.org::9c081128-0687-4cc5-906f-c826450d4c39" providerId="AD" clId="Web-{849E0BAB-E0CB-D079-357C-856FBE07D8AB}" dt="2025-12-08T07:59:37.904" v="14" actId="1076"/>
          <ac:spMkLst>
            <pc:docMk/>
            <pc:sldMk cId="946846088" sldId="1298"/>
            <ac:spMk id="5" creationId="{5215B0D1-B06C-3466-28E3-04DA70D1A6AD}"/>
          </ac:spMkLst>
        </pc:spChg>
        <pc:spChg chg="mod">
          <ac:chgData name="Mohd Kaisar" userId="S::kaisar@edunetfoundation.org::9c081128-0687-4cc5-906f-c826450d4c39" providerId="AD" clId="Web-{849E0BAB-E0CB-D079-357C-856FBE07D8AB}" dt="2025-12-08T07:59:42.623" v="15" actId="20577"/>
          <ac:spMkLst>
            <pc:docMk/>
            <pc:sldMk cId="946846088" sldId="1298"/>
            <ac:spMk id="6" creationId="{33B282E5-EFA4-B42A-3002-A121095746EB}"/>
          </ac:spMkLst>
        </pc:spChg>
        <pc:picChg chg="mod">
          <ac:chgData name="Mohd Kaisar" userId="S::kaisar@edunetfoundation.org::9c081128-0687-4cc5-906f-c826450d4c39" providerId="AD" clId="Web-{849E0BAB-E0CB-D079-357C-856FBE07D8AB}" dt="2025-12-08T07:59:19.700" v="7" actId="1076"/>
          <ac:picMkLst>
            <pc:docMk/>
            <pc:sldMk cId="946846088" sldId="1298"/>
            <ac:picMk id="31" creationId="{2BB9B87E-CCB4-1C05-BDD7-49BD2F4433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8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33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70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92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xmlns="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C8BE9A7-CD12-16D7-1936-B3E207021293}"/>
              </a:ext>
            </a:extLst>
          </p:cNvPr>
          <p:cNvSpPr txBox="1"/>
          <p:nvPr userDrawn="1"/>
        </p:nvSpPr>
        <p:spPr>
          <a:xfrm>
            <a:off x="400050" y="125730"/>
            <a:ext cx="789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200" b="1">
                <a:solidFill>
                  <a:schemeClr val="bg1"/>
                </a:solidFill>
                <a:latin typeface="+mj-lt"/>
              </a:rPr>
              <a:t>Creating A Future-ready Workforce</a:t>
            </a:r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xmlns="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.jpe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hyperlink" Target="https://www.freepik.com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hyperlink" Target="https://www.freepik.com/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xmlns="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xmlns="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xmlns="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xmlns="" id="{6A8BFA17-ACF5-21DA-81BC-A9A793A30FE6}"/>
              </a:ext>
            </a:extLst>
          </p:cNvPr>
          <p:cNvSpPr txBox="1"/>
          <p:nvPr/>
        </p:nvSpPr>
        <p:spPr>
          <a:xfrm>
            <a:off x="7040662" y="2145436"/>
            <a:ext cx="4378621" cy="135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Detection &amp; Management System</a:t>
            </a:r>
          </a:p>
          <a:p>
            <a:pPr algn="l">
              <a:lnSpc>
                <a:spcPct val="90000"/>
              </a:lnSpc>
            </a:pP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</a:pPr>
            <a:r>
              <a:rPr lang="en-US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CU_CP_Team_10511</a:t>
            </a:r>
            <a:endParaRPr lang="en-US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215B0D1-B06C-3466-28E3-04DA70D1A6AD}"/>
              </a:ext>
            </a:extLst>
          </p:cNvPr>
          <p:cNvSpPr txBox="1"/>
          <p:nvPr/>
        </p:nvSpPr>
        <p:spPr>
          <a:xfrm>
            <a:off x="7048257" y="4199936"/>
            <a:ext cx="4748291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IN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Zalak Doshi(IT)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Patel Shreya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Rajnikant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Sohani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Pangotra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Pranay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Sharma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3B282E5-EFA4-B42A-3002-A121095746EB}"/>
              </a:ext>
            </a:extLst>
          </p:cNvPr>
          <p:cNvSpPr txBox="1"/>
          <p:nvPr/>
        </p:nvSpPr>
        <p:spPr>
          <a:xfrm>
            <a:off x="8329971" y="6252731"/>
            <a:ext cx="4699247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 </a:t>
            </a:r>
            <a:endParaRPr lang="en-IN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378" y="1123063"/>
            <a:ext cx="6123812" cy="64947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pc="-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74BEAD1C-D4EE-217C-7DA3-DC537039DFC5}"/>
              </a:ext>
            </a:extLst>
          </p:cNvPr>
          <p:cNvSpPr txBox="1"/>
          <p:nvPr/>
        </p:nvSpPr>
        <p:spPr>
          <a:xfrm>
            <a:off x="490441" y="1939270"/>
            <a:ext cx="5610657" cy="36933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– Introduction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Modelling/Block Diagram/Flow of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link &amp; 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Perspective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D507D05-4C0A-0699-FEB2-7D8F6FBD6994}"/>
              </a:ext>
            </a:extLst>
          </p:cNvPr>
          <p:cNvGrpSpPr/>
          <p:nvPr/>
        </p:nvGrpSpPr>
        <p:grpSpPr>
          <a:xfrm>
            <a:off x="6494689" y="1447800"/>
            <a:ext cx="5439319" cy="3480707"/>
            <a:chOff x="4572000" y="1352550"/>
            <a:chExt cx="3916680" cy="2506346"/>
          </a:xfrm>
        </p:grpSpPr>
        <p:pic>
          <p:nvPicPr>
            <p:cNvPr id="13" name="Picture 12" descr="A group of icons with graphs and charts&#10;&#10;AI-generated content may be incorrect.">
              <a:extLst>
                <a:ext uri="{FF2B5EF4-FFF2-40B4-BE49-F238E27FC236}">
                  <a16:creationId xmlns:a16="http://schemas.microsoft.com/office/drawing/2014/main" xmlns="" id="{C2D4920E-4971-AD6E-FEFA-F52546153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352550"/>
              <a:ext cx="2258483" cy="1383030"/>
            </a:xfrm>
            <a:prstGeom prst="rect">
              <a:avLst/>
            </a:prstGeom>
          </p:spPr>
        </p:pic>
        <p:pic>
          <p:nvPicPr>
            <p:cNvPr id="14" name="Picture 13" descr="A blue arrow hitting a yellow and white target&#10;&#10;AI-generated content may be incorrect.">
              <a:extLst>
                <a:ext uri="{FF2B5EF4-FFF2-40B4-BE49-F238E27FC236}">
                  <a16:creationId xmlns:a16="http://schemas.microsoft.com/office/drawing/2014/main" xmlns="" id="{D6C15AD9-CCF7-5E54-7691-52E46C42C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5180" y="2052032"/>
              <a:ext cx="2343500" cy="180686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30ECDBD7-36D9-921B-68C6-AC77F5A66FB1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3015FF2-7BEE-909C-92A2-E0DBC5FB3990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https://www.freepik.com/</a:t>
              </a:r>
              <a:endParaRPr lang="en-US" sz="11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F8386786-5360-6578-652A-11C812FFA6F7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3D2F9488-4CF7-4FCB-7661-3AE4E5EB66C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/>
                  <a:t>Source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xmlns="" id="{EAD8D237-BDB9-5EDA-44A4-F14768D59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xmlns="" id="{A4E76FF3-D150-1A38-0627-1AE966548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6012" y="1355564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F66CEC1E-D414-60D6-7258-4ACDA0654F65}"/>
              </a:ext>
            </a:extLst>
          </p:cNvPr>
          <p:cNvSpPr txBox="1"/>
          <p:nvPr/>
        </p:nvSpPr>
        <p:spPr>
          <a:xfrm>
            <a:off x="476012" y="2041140"/>
            <a:ext cx="10629697" cy="321113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 is a growing epidemic affecting millions worldwide, leading to mental health issues, decreased productivity, and physical health problems. 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accessible tools for individuals to monitor and manage their stress levels effectively.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approach - generic stress management advice doesn't work for everyone. 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self-awareness - people often don't recognize stress triggers until it's too late.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early intervention through continuous monitoring and AI-powered prediction.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 77% of people experience stress affecting their physical health.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Stress-related issues cost organizations billions in lost productivity annually.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can significantly reduce long-term health consequences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980" y="141154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B07E3F00-B8A1-E3E6-46F3-9CBDC445523A}"/>
              </a:ext>
            </a:extLst>
          </p:cNvPr>
          <p:cNvSpPr txBox="1"/>
          <p:nvPr/>
        </p:nvSpPr>
        <p:spPr>
          <a:xfrm>
            <a:off x="690617" y="2293066"/>
            <a:ext cx="9451760" cy="245195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Stress Prediction System using Machine Learning algorithms to classify stress levels (Low/Medium/High).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User-Friendly Web Interface for seamless stress assessment and tracking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Recommendations based on individual stress levels and triggers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Continuous Monitoring through mood journaling and historical analysis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for immediate stress relief assistance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Comprehensive Reports (Weekly, Monthly, Before/After) to track progress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6938976A-48BF-02EA-7BFA-5075C8725DD1}"/>
              </a:ext>
            </a:extLst>
          </p:cNvPr>
          <p:cNvSpPr txBox="1"/>
          <p:nvPr/>
        </p:nvSpPr>
        <p:spPr>
          <a:xfrm>
            <a:off x="504004" y="1341344"/>
            <a:ext cx="7199508" cy="51603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React.js	              User Interface Development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	              Page Navigation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Data Visualization (Charts, Graphs)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API Communication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CSS3	                                Modern, Responsive Styling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Flask (Python)                    REST API Server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Flask-CORS	               Cross-Origin Resource Sharing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PyMongo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Driver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Password Hashing &amp; Security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 ML Model Serialization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1194" y="1075645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BD0735C1-3598-53C0-CB0C-6CCC862D16E4}"/>
              </a:ext>
            </a:extLst>
          </p:cNvPr>
          <p:cNvSpPr txBox="1"/>
          <p:nvPr/>
        </p:nvSpPr>
        <p:spPr>
          <a:xfrm>
            <a:off x="476013" y="1751892"/>
            <a:ext cx="7199508" cy="33137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itchFamily="34" charset="0"/>
              <a:buChar char="•"/>
              <a:tabLst>
                <a:tab pos="299085" algn="l"/>
              </a:tabLst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Atlas	               Cloud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itchFamily="34" charset="0"/>
              <a:buChar char="•"/>
              <a:tabLst>
                <a:tab pos="299085" algn="l"/>
              </a:tabLs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cikit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-learn	              ML Model Training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itchFamily="34" charset="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Pandas	              Data Processing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itchFamily="34" charset="0"/>
              <a:buChar char="•"/>
              <a:tabLst>
                <a:tab pos="299085" algn="l"/>
              </a:tabLst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Numerical Computations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9462135" cy="604361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</a:t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file that sets up page routing and checks if user is logged in.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React Router,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Conditional Rendering.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Navbar.js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navigation menu with 6 links and logout button.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NavLink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Array mapping.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Login.js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email and password, authenticates user, stores session in browser.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Register.js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user details (name, email, password) and creates new account.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POST, Form handling.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Dashboard.js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overview with stat cards, line chart, pie chart, and progress tracking.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52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9462135" cy="604361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</a:t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StressForm.js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input fields, sends to ML model, displays prediction result with emoji.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POST, Form handling.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Recommendations.js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personalized stress relief tips based on user's stress level.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Journal.js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user log daily mood with emoji selection and optional notes.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and POST.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Reports.js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weekly/monthly reports with pie charts and before/after comparison.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Chatbot.js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interface for AI stress support with quick reply buttons.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useRef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POST, Auto-scroll.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798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9462135" cy="604361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</a:t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app_mongodb.py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server file containing all 15+ REST API endpoints.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Flask, CORS,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PyMongo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stress_model.py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3 ML models (Random Forest, SVM, Logistic Regression) and saves the best one.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Pandas,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/register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new user account with password hashing.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UUID generation,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/login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email and password, returns user data.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Password verification,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/predict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data, runs ML model prediction, saves result to database.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 model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/recommendations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array of tips based on stress level (Low/Medium/High).</a:t>
            </a:r>
            <a:r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089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9462135" cy="604361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</a:t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/journal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GET: Fetches user's journal entries. POST: Saves new mood entry.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and insert, Date handling.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/reports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weekly/monthly statistics and stress level distribution.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queries, Date filtering, Percentage calculation.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/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/chat endpoint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keywords in user message and returns appropriate bot response.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Keyword matching, Dictionary lookup.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users collection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accounts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email, and hashed password.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stress_history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stress predictions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stress_level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prediction_date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mood_journal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daily mood entries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mood emoji, notes,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entry_date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651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6966" y="776279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C8B19602-5945-D8D8-558E-B9D8BCF88542}"/>
              </a:ext>
            </a:extLst>
          </p:cNvPr>
          <p:cNvSpPr txBox="1"/>
          <p:nvPr/>
        </p:nvSpPr>
        <p:spPr>
          <a:xfrm>
            <a:off x="363422" y="1149341"/>
            <a:ext cx="10263937" cy="52116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Information: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Samples: 774 records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22 input features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Stress Level (Low/Medium/High)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              Categories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	             Age, Gender, Occupation, Marital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StatusSleep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Sleep                    Duration, Sleep Quality, Wake Up Time, Bed Time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	             Physical Activity, Screen Time, Exercise Type, Meditation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PracticeHabits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Caffeine               Intake, Alcohol Intake, Smoking Habit Work	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                   Hours, Travel Time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	             Blood Pressure, Cholesterol Level, Blood Sugar 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Social    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InteractionsPreprocessing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958" y="1298793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</a:t>
            </a: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C8B19602-5945-D8D8-558E-B9D8BCF88542}"/>
              </a:ext>
            </a:extLst>
          </p:cNvPr>
          <p:cNvSpPr txBox="1"/>
          <p:nvPr/>
        </p:nvSpPr>
        <p:spPr>
          <a:xfrm>
            <a:off x="419406" y="1895790"/>
            <a:ext cx="10263937" cy="2174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                 Categories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Conversion   Wake Up Time &amp; Bed Time → Minutes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 Categorical variables (Gender, Occupation, etc.)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Numerical feature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normalizationClass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Balancing - Resampling for balanced classes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292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Comparison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FD88F72F-9CDB-BA74-F623-E56EFFA44E46}"/>
              </a:ext>
            </a:extLst>
          </p:cNvPr>
          <p:cNvSpPr txBox="1"/>
          <p:nvPr/>
        </p:nvSpPr>
        <p:spPr>
          <a:xfrm>
            <a:off x="390525" y="1269188"/>
            <a:ext cx="10355377" cy="52116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Evaluated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	            Accuracy	      Best For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	             72.9%            Feature importance, robust predictions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	             ~68%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Baseline model, interpretability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Selected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Configuration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100 (decision trees)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42 (for reproducibility)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patterns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6508" y="1243596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283464" indent="-283464">
              <a:spcAft>
                <a:spcPts val="800"/>
              </a:spcAft>
              <a:tabLst>
                <a:tab pos="299085" algn="l"/>
              </a:tabLs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= {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'Logistic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Regression':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'Random Forest':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=100,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=42),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'SVM': SVC(kernel='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probability=True)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Random Forest selected as best performing model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 smtClean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E60DEBBB-AD2B-766E-32FE-AB5BCF243F01}"/>
              </a:ext>
            </a:extLst>
          </p:cNvPr>
          <p:cNvSpPr txBox="1"/>
          <p:nvPr/>
        </p:nvSpPr>
        <p:spPr>
          <a:xfrm>
            <a:off x="485342" y="1443981"/>
            <a:ext cx="9207297" cy="52116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Endpoints: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   	Endpoint	Description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	              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/register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new user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	              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/login	User login with password hash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Functionality Endpoints: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	               Endpoint Description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	              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/predict  ML-based stress level prediction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	              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/analyze-triggers Identify stress triggers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/forecast Predict stress trends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Endpoints: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	               Endpoint Description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	               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/recommendations/:level Personalized tips by level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87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8077044-2447-F20F-732E-F59B0876B1BE}"/>
              </a:ext>
            </a:extLst>
          </p:cNvPr>
          <p:cNvSpPr txBox="1"/>
          <p:nvPr/>
        </p:nvSpPr>
        <p:spPr>
          <a:xfrm>
            <a:off x="397378" y="2615191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EA06B000-237D-0FED-3FF0-5FE978FF8E88}"/>
              </a:ext>
            </a:extLst>
          </p:cNvPr>
          <p:cNvGrpSpPr/>
          <p:nvPr/>
        </p:nvGrpSpPr>
        <p:grpSpPr>
          <a:xfrm>
            <a:off x="6877050" y="1485900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a16:creationId xmlns:a16="http://schemas.microsoft.com/office/drawing/2014/main" xmlns=""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7357E5D4-E88F-37E5-74E7-633F944B11CE}"/>
              </a:ext>
            </a:extLst>
          </p:cNvPr>
          <p:cNvSpPr txBox="1"/>
          <p:nvPr/>
        </p:nvSpPr>
        <p:spPr>
          <a:xfrm>
            <a:off x="489261" y="3424916"/>
            <a:ext cx="6465963" cy="16619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AI-based Stress Detection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 a full-stack web application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personalized stress management features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Enabled continuous stress monitoring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user-friendly interface Demonstrated practical application of Machine Learning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6898C442-216F-0AFF-7F38-7D870EA0918B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4F386A49-2AFF-C581-4F70-D6CF61537C07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https://www.freepik.com/</a:t>
              </a:r>
              <a:endParaRPr lang="en-US" sz="11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62C3D488-31F2-374D-B1E9-85C3F7A3279B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/>
                  <a:t>Source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xmlns=""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xmlns=""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/>
          <p:cNvSpPr/>
          <p:nvPr/>
        </p:nvSpPr>
        <p:spPr>
          <a:xfrm>
            <a:off x="397378" y="1124691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213163"/>
                </a:solidFill>
              </a:rPr>
              <a:t>Github</a:t>
            </a:r>
            <a:r>
              <a:rPr lang="en-US" b="1" dirty="0" smtClean="0">
                <a:solidFill>
                  <a:srgbClr val="213163"/>
                </a:solidFill>
              </a:rPr>
              <a:t> Link:</a:t>
            </a:r>
            <a:endParaRPr lang="en-IN" b="1" dirty="0">
              <a:solidFill>
                <a:srgbClr val="21316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378" y="171787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https://github.com/zalakdoshi/Stress_Management_System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162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4863" y="1274119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Perspective</a:t>
            </a:r>
            <a:endParaRPr lang="en-US" sz="2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E60DEBBB-AD2B-766E-32FE-AB5BCF243F01}"/>
              </a:ext>
            </a:extLst>
          </p:cNvPr>
          <p:cNvSpPr txBox="1"/>
          <p:nvPr/>
        </p:nvSpPr>
        <p:spPr>
          <a:xfrm>
            <a:off x="454863" y="1799581"/>
            <a:ext cx="7199508" cy="193899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recommendations dynamic using AI instead of static pre-defined tips.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for intelligent, conversational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smartwatches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heart rate and sleep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 with push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ML accuracy using Deep Learning models.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994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xmlns="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525</Words>
  <Application>Microsoft Office PowerPoint</Application>
  <PresentationFormat>Widescreen</PresentationFormat>
  <Paragraphs>312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Simple Light</vt:lpstr>
      <vt:lpstr>PowerPoint Presentation</vt:lpstr>
      <vt:lpstr>Project Objectives </vt:lpstr>
      <vt:lpstr>Problem Statement</vt:lpstr>
      <vt:lpstr>Project overview </vt:lpstr>
      <vt:lpstr>Tech Stack </vt:lpstr>
      <vt:lpstr>Tech Stack</vt:lpstr>
      <vt:lpstr>System Architecture:   Frontend:  1. App.js Main file that sets up page routing and checks if user is logged in. Uses: React Router, localStorage, Conditional Rendering. 2. Navbar.js Shows navigation menu with 6 links and logout button. Uses: NavLink, useNavigate, Array mapping. 3. Login.js Takes email and password, authenticates user, stores session in browser. Uses: useState, axios POST, localStorage. 4. Register.js Takes user details (name, email, password) and creates new account. Uses: useState, axios POST, Form handling. 5. Dashboard.js Shows overview with stat cards, line chart, pie chart, and progress tracking. Uses: useState, useEffect, axios GET, Recharts library.    </vt:lpstr>
      <vt:lpstr>System Architecture:   Frontend:  6. StressForm.js Collects 21 input fields, sends to ML model, displays prediction result with emoji. Uses: useState, axios POST, Form handling. 7. Recommendations.js Shows personalized stress relief tips based on user's stress level. Uses: useState, useEffect, axios GET. 8. Journal.js Lets user log daily mood with emoji selection and optional notes. Uses: useState, useEffect, axios GET and POST. 9. Reports.js Shows weekly/monthly reports with pie charts and before/after comparison. Uses: useState, useEffect, axios GET, Recharts library. 10. Chatbot.js Chat interface for AI stress support with quick reply buttons. Uses: useState, useRef, axios POST, Auto-scroll.    </vt:lpstr>
      <vt:lpstr>System Architecture:   Backend:  1. app_mongodb.py Main server file containing all 15+ REST API endpoints. Uses: Flask, CORS, PyMongo, Joblib. 2. stress_model.py Trains 3 ML models (Random Forest, SVM, Logistic Regression) and saves the best one. Uses: scikit-learn, Pandas, OneHotEncoder, StandardScaler. 3. /api/register endpoint Creates new user account with password hashing. Uses: UUID generation, Werkzeug password hashing, MongoDB insert. 4. /api/login endpoint Verifies email and password, returns user data. Uses: Password verification, MongoDB query. 5. /api/predict endpoint Preprocesses input data, runs ML model prediction, saves result to database. Uses: OneHotEncoder, StandardScaler, Random Forest model. 6. /api/recommendations endpoint Returns array of tips based on stress level (Low/Medium/High).      </vt:lpstr>
      <vt:lpstr>System Architecture:   7. /api/journal endpoint GET: Fetches user's journal entries. POST: Saves new mood entry. Uses: MongoDB find and insert, Date handling. 8. /api/reports endpoint Calculates weekly/monthly statistics and stress level distribution. Uses: MongoDB queries, Date filtering, Percentage calculation. 9. /api/chat endpoint Matches keywords in user message and returns appropriate bot response. Uses: Keyword matching, Dictionary lookup.   Database: 1. users collection Stores user accounts with user_id, name, email, and hashed password. 2. stress_history collection Stores all stress predictions with user_id, stress_level, and prediction_date. 3. mood_journal collection Stores daily mood entries with user_id, mood emoji, notes, and entry_date.   </vt:lpstr>
      <vt:lpstr>Machine Learning Model </vt:lpstr>
      <vt:lpstr>Machine Learning Model </vt:lpstr>
      <vt:lpstr>ML Comparison</vt:lpstr>
      <vt:lpstr>Key Code Snippet   models = {     'Logistic Regression': LogisticRegression(max_iter=1000),     'Random Forest': RandomForestClassifier(n_estimators=100, random_state=42),     'SVM': SVC(kernel='rbf', probability=True) }  # Random Forest selected as best performing model     </vt:lpstr>
      <vt:lpstr>API Endpoints</vt:lpstr>
      <vt:lpstr>PowerPoint Presentation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Microsoft account</cp:lastModifiedBy>
  <cp:revision>30</cp:revision>
  <dcterms:created xsi:type="dcterms:W3CDTF">2024-06-24T09:04:39Z</dcterms:created>
  <dcterms:modified xsi:type="dcterms:W3CDTF">2026-02-22T13:38:03Z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